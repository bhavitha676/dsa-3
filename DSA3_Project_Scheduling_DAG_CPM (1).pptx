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9" r:id="rId18"/>
    <p:sldId id="270" r:id="rId19"/>
    <p:sldId id="271" r:id="rId20"/>
    <p:sldId id="267" r:id="rId9"/>
    <p:sldId id="272" r:id="rId21"/>
    <p:sldId id="273" r:id="rId22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Project Scheduling System Using DAG and CPM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[Name 1]: [Roll No.]</a:t>
            </a:r>
          </a:p>
          <a:p>
            <a:r>
              <a:rPr lang="en-US" dirty="0">
                <a:solidFill>
                  <a:srgbClr val="0070C0"/>
                </a:solidFill>
              </a:rPr>
              <a:t>[Name 2]: [Roll No.]</a:t>
            </a:r>
          </a:p>
          <a:p>
            <a:r>
              <a:rPr lang="en-US" dirty="0">
                <a:solidFill>
                  <a:srgbClr val="0070C0"/>
                </a:solidFill>
              </a:rPr>
              <a:t>[Name 3]: [Roll No.]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[Faculty Name], [Designation], Dept. of [Department]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Course Outcomes (CO1-CO6) Coverage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0000" y="1000000"/>
            <a:ext cx="89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The Project Scheduling System finds an efficient order for completing project tasks.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Tasks are nodes of a Directed Acyclic Graph (DAG); dependencies are directed edges.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Topological Sort gives a valid execution order; a DFS check rejects circular dependencies.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Critical Path Method (CPM) computes the longest dependency path, the critical tasks and the minimum project duration.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Beyond CPM, the system applies string algorithms (KMP, suffix array), advanced DP, max-flow, approximation, randomised and parallel algorithms to plan real project work.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Implemented in Java as a menu-driven console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0000" y="1000000"/>
            <a:ext cx="89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Projects contain many tasks; some cannot start until others finish.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A DAG models this naturally: no task can (directly or indirectly) depend on itself.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CPM answers: what is the shortest possible project time, and which tasks can never be delayed?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Slack = LS - ES. Tasks with slack 0 are critical; others have room to slip.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Real projects also need: finding tasks by name, deciding who does what, planning with limited workers and handling uncertain durations.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These extra needs map to the algorithm families of DSA-3 (CO1-CO6).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0000" y="1000000"/>
            <a:ext cx="89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Kelley &amp; Walker (1959): Critical Path Method; Malcolm et al. (1959): PERT.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Kahn (1962): topological sorting of a DAG in O(V+E).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Knuth, Morris &amp; Pratt (1977): linear-time string matching (KMP).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Ford &amp; Fulkerson (1956); Edmonds &amp; Karp (1972): maximum flow and min-cut duality.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Graham (1966): list scheduling gives a (2 - 1/m) bound for m machines.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Ullman (1975): scheduling with precedence constraints is NP-complete.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>
                <a:solidFill>
                  <a:srgbClr val="262626"/>
                </a:solidFill>
              </a:rPr>
              <a:t>Cormen, Leiserson, Rivest &amp; Stein: Introduction to Algorithms (reference text).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0000" y="6250000"/>
            <a:ext cx="8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F7F7F"/>
                </a:solidFill>
              </a:rPr>
              <a:t>Please verify these citations against the originals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0000" y="1000000"/>
            <a:ext cx="8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62626"/>
                </a:solidFill>
              </a:rPr>
              <a:t>Problem Statement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62626"/>
                </a:solidFill>
              </a:rPr>
              <a:t>Given tasks with durations and dependencies, find a valid order, the minimum completion time and the critical tasks, and support staffing decisions, without hand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0000" y="2600000"/>
            <a:ext cx="89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800" b="1">
                <a:solidFill>
                  <a:srgbClr val="262626"/>
                </a:solidFill>
              </a:rPr>
              <a:t>Objectives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800" b="0">
                <a:solidFill>
                  <a:srgbClr val="262626"/>
                </a:solidFill>
              </a:rPr>
              <a:t>Model tasks and dependencies as a DAG and reject cycles (DFS).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800" b="0">
                <a:solidFill>
                  <a:srgbClr val="262626"/>
                </a:solidFill>
              </a:rPr>
              <a:t>Produce an execution order with Topological Sort (Kahn).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800" b="0">
                <a:solidFill>
                  <a:srgbClr val="262626"/>
                </a:solidFill>
              </a:rPr>
              <a:t>Compute ES, EF, LS, LF, slack, critical path and minimum duration (CPM).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800" b="0">
                <a:solidFill>
                  <a:srgbClr val="262626"/>
                </a:solidFill>
              </a:rPr>
              <a:t>Search task names (KMP) and flag near-duplicates (suffix array + LCP).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800" b="0">
                <a:solidFill>
                  <a:srgbClr val="262626"/>
                </a:solidFill>
              </a:rPr>
              <a:t>Plan work with DP, assign workers by max-flow, approximate m-worker schedules.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800" b="0">
                <a:solidFill>
                  <a:srgbClr val="262626"/>
                </a:solidFill>
              </a:rPr>
              <a:t>Estimate risk with Monte Carlo; use parallel prefix sum and work-span analysis.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0000" y="12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Input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tasks, durations, deps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30000" y="12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Build DAG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adjacency list + HashMap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00000" y="1650000"/>
            <a:ext cx="210000" cy="0"/>
          </a:xfrm>
          <a:prstGeom prst="line">
            <a:avLst/>
          </a:prstGeom>
          <a:ln w="22225">
            <a:solidFill>
              <a:srgbClr val="26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60000" y="12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Cycle check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DFS colouring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30000" y="1650000"/>
            <a:ext cx="210000" cy="0"/>
          </a:xfrm>
          <a:prstGeom prst="line">
            <a:avLst/>
          </a:prstGeom>
          <a:ln w="22225">
            <a:solidFill>
              <a:srgbClr val="26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90000" y="12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Topological sort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Kahn + min-heap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60000" y="1650000"/>
            <a:ext cx="210000" cy="0"/>
          </a:xfrm>
          <a:prstGeom prst="line">
            <a:avLst/>
          </a:prstGeom>
          <a:ln w="22225">
            <a:solidFill>
              <a:srgbClr val="26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220000" y="12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CPM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forward + backward pass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90000" y="1650000"/>
            <a:ext cx="210000" cy="0"/>
          </a:xfrm>
          <a:prstGeom prst="line">
            <a:avLst/>
          </a:prstGeom>
          <a:ln w="22225">
            <a:solidFill>
              <a:srgbClr val="26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10000" y="2100000"/>
            <a:ext cx="0" cy="800000"/>
          </a:xfrm>
          <a:prstGeom prst="line">
            <a:avLst/>
          </a:prstGeom>
          <a:ln w="22225">
            <a:solidFill>
              <a:srgbClr val="26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0000" y="2900000"/>
            <a:ext cx="89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0000"/>
                </a:solidFill>
              </a:rPr>
              <a:t>Analysis modules on the same DAG (menu options 2-10)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0000" y="37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CO2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KMP, suffix array + LCP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0000" y="37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CO3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Bitmask DP, subset DP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0000" y="37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CO4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Max-flow (Edmonds-Karp)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0000" y="37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CO5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Graham approximation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20000" y="3700000"/>
            <a:ext cx="1580000" cy="9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CO6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Monte Carlo, prefix sum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0000" y="5050000"/>
            <a:ext cx="8900000" cy="650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Output: execution order | ES/EF/LS/LF/slack table | critical path | minimum duration | timeline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00000" y="900000"/>
            <a:ext cx="8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</a:rPr>
              <a:t>Sample project A-E (Requirements, Database Design, Database Setup, Development, Testing)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0000" y="1300000"/>
            <a:ext cx="8900000" cy="5100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60000" y="1340000"/>
            <a:ext cx="8780000" cy="5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=== EXECUTION ORDER (Topological Sort) ===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A -&gt; B -&gt; C -&gt; D -&gt; E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=== CPM SCHEDULE ===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ID     Task                    Dur   ES   EF   LS   LF  Slack  Critical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A      Requirements              2    0    2    0    2      0  YES *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B      Database Design           3    2    5    2    5      0  YES *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C      Database Setup            2    2    4    3    5      1  no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D      Development               4    5    9    5    9      0  YES *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E      Testing                   2    9   11    9   11      0  YES *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=== CRITICAL PATH(S) ===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A -&gt; B -&gt; D -&gt; E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Minimum project duration: 11 days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=== TIMELINE (# = critical, - = has slack) ===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A     |##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B     |  ###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C     |  --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D     |     ####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onsolas"/>
              </a:rPr>
              <a:t>E     |         ##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00000" y="100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2200" b="1">
                <a:solidFill>
                  <a:srgbClr val="262626"/>
                </a:solidFill>
              </a:rPr>
              <a:t>Hardware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Any laptop or PC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Dual-core CPU, 4 GB RAM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Minimal disk space (&lt; 10 MB)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No GPU or network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0000" y="100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2200" b="1">
                <a:solidFill>
                  <a:srgbClr val="262626"/>
                </a:solidFill>
              </a:rPr>
              <a:t>Software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Java JDK 11 or newer (tested on JDK 21)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Windows / Linux / macOS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VS Code, IntelliJ or Eclipse (or terminal)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Run: javac ProjectScheduler.java, then java ProjectScheduler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PowerPoint for the report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0000" y="1000000"/>
            <a:ext cx="89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The system builds a DAG, rejects cycles, orders tasks and finds the critical path and minimum duration (11 days on the sample).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Course topics were used where they solve a real scheduling need, not added for their own sake.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Each algorithm was chosen after classifying the sub-problem: polynomial (topological sort, CPM, max-flow), NP-hard (bitmask DP for small n, approximation for m workers), probabilistic (Monte Carlo).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Results were checked: max-flow = min-cut, prefix sums match Java's parallelPrefix, small cases verified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0000" y="1000000"/>
            <a:ext cx="89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Graphical interface with a network diagram of the DAG.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Read projects from CSV or Excel files.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Resource levelling and cost-based crashing of critical tasks.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PERT with three-point estimates (optimistic, likely, pessimistic).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Truly parallel forward pass using Java threads or ForkJoin.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2200" b="0">
                <a:solidFill>
                  <a:srgbClr val="262626"/>
                </a:solidFill>
              </a:rPr>
              <a:t>Rabin-Karp and suffix automaton for large task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: Rounded Corners 2"/>
          <p:cNvSpPr/>
          <p:nvPr/>
        </p:nvSpPr>
        <p:spPr>
          <a:xfrm>
            <a:off x="1596000" y="221673"/>
            <a:ext cx="90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596000" y="221673"/>
            <a:ext cx="90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CO1 and CO2: Problem Classes, Strategy and String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0000" y="950000"/>
            <a:ext cx="4350000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90000" y="1010000"/>
            <a:ext cx="41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00000"/>
                </a:solidFill>
              </a:rPr>
              <a:t>CO1: Evaluate and select 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00" y="1350000"/>
            <a:ext cx="417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Substring search: KMP chosen (O(n+m)) over naive rescanning.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NP-hard scheduling: exact bitmask DP if n &lt;= 20, greedy above.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Network flow: task-worker assignment modelled as max-flow.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Menu option 6 prints the problem-class / strategy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0000" y="950000"/>
            <a:ext cx="4350000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0000" y="1010000"/>
            <a:ext cx="41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00000"/>
                </a:solidFill>
              </a:rPr>
              <a:t>CO2: String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0000" y="1350000"/>
            <a:ext cx="417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KMP: prefix function + linear search over task names.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Suffix array sorts all suffixes of the joined names.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LCP array (Kasai, O(n)) gives shared substring lengths.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Finds B ~ C sharing "database " (9 characters).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00000" y="3800000"/>
          <a:ext cx="89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666"/>
                <a:gridCol w="2966666"/>
                <a:gridCol w="2966668"/>
              </a:tblGrid>
              <a:tr h="46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Sub-problem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Order of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DAG ordering,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Topological sort O(V+E)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Min project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Longest path, 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CPM = DP on topological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One 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NP-hard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Bitmask DP / greedy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 workers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NP-hard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Graham (2-1/m) approximation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: Rounded Corners 2"/>
          <p:cNvSpPr/>
          <p:nvPr/>
        </p:nvSpPr>
        <p:spPr>
          <a:xfrm>
            <a:off x="1596000" y="221673"/>
            <a:ext cx="90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596000" y="221673"/>
            <a:ext cx="90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CO3: Advanced Dynamic Programming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0000" y="950000"/>
            <a:ext cx="43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90000" y="1010000"/>
            <a:ext cx="41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00000"/>
                </a:solidFill>
              </a:rPr>
              <a:t>Bitmask DP (DP on subsets)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00" y="1350000"/>
            <a:ext cx="4170000" cy="2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State: mask = set of tasks already done.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dp[mask] = min sum of finish times; a task is allowed only if its dependency mask is inside mask.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Same table counts valid topological orders (2 for the sample).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Time O(2^n * n), used for n &lt;= 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0000" y="950000"/>
            <a:ext cx="43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0000" y="1010000"/>
            <a:ext cx="41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00000"/>
                </a:solidFill>
              </a:rPr>
              <a:t>Subset-sum DP: two-team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0000" y="1350000"/>
            <a:ext cx="4170000" cy="2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can[i][s] = tasks 1..i can make workload s.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Best s near total/2 gives the most balanced split.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Sample: Team 1 = A, D (6 days); Team 2 = B, C, E (7 days).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Time O(n * total/2).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0000" y="3650000"/>
            <a:ext cx="8900000" cy="2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00" y="3710000"/>
            <a:ext cx="87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00000"/>
                </a:solidFill>
              </a:rPr>
              <a:t>CPM as DP over the 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00" y="4050000"/>
            <a:ext cx="872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Forward pass: ES(v) = max EF(pred), EF = ES + duration. Backward pass: LF(v) = min LS(succ), LS = LF - duration.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Each value is computed once from already-solved sub-problems, in topological order: O(V+E).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400" b="0">
                <a:solidFill>
                  <a:srgbClr val="262626"/>
                </a:solidFill>
              </a:rPr>
              <a:t>Slack = LS - ES; critical tasks have slack 0, and the longest path is the minimum project duration.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: Rounded Corners 2"/>
          <p:cNvSpPr/>
          <p:nvPr/>
        </p:nvSpPr>
        <p:spPr>
          <a:xfrm>
            <a:off x="1746000" y="221673"/>
            <a:ext cx="87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746000" y="221673"/>
            <a:ext cx="87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CO4, CO5 and CO6: Flow, NP-Hardness, Randomised and Parallel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0000" y="950000"/>
            <a:ext cx="2880000" cy="4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90000" y="101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</a:rPr>
              <a:t>CO4: Network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00" y="1350000"/>
            <a:ext cx="27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Network: source -&gt; worker (capacity) -&gt; task (skill edge) -&gt; sink.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Edmonds-Karp: BFS shortest augmenting paths, O(V*E^2).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Min-cut is computed from the residual graph; max-flow = min-cut is checked.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Sample: 4 of 5 tasks assigned; total worker capacity is the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0000" y="950000"/>
            <a:ext cx="2880000" cy="4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0" y="101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</a:rPr>
              <a:t>CO5: Approximation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0" y="1350000"/>
            <a:ext cx="27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Scheduling on m workers contains PARTITION, so it is NP-hard.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Graham list scheduling: start the longest ready task on a free worker.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Guarantee: at most (2 - 1/m) x optimum; checked against lower bound max(critical path, work/m).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Sample, 2 workers: 11 days = lower bound.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0000" y="950000"/>
            <a:ext cx="2880000" cy="4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0000" y="101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</a:rPr>
              <a:t>CO6: Random +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0000" y="1350000"/>
            <a:ext cx="27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Las Vegas: randomised quick-select for median duration (always correct).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Monte Carlo: 10000 runs with random delays give expected time, deadline probability, criticality index.</a:t>
            </a:r>
          </a:p>
          <a:p>
            <a:pPr marL="228600" indent="-228600">
              <a:spcAft>
                <a:spcPts val="300"/>
              </a:spcAft>
              <a:buChar char="•"/>
            </a:pPr>
            <a:r>
              <a:rPr sz="1600" b="0">
                <a:solidFill>
                  <a:srgbClr val="262626"/>
                </a:solidFill>
              </a:rPr>
              <a:t>Parallel prefix sum and reduce: span O(log n), verified with Arrays.parallelPrefix.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: Rounded Corners 2"/>
          <p:cNvSpPr/>
          <p:nvPr/>
        </p:nvSpPr>
        <p:spPr>
          <a:xfrm>
            <a:off x="2346000" y="221673"/>
            <a:ext cx="75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46000" y="221673"/>
            <a:ext cx="75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Results: Strings, DP and Team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0000" y="950000"/>
            <a:ext cx="8900000" cy="5450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60000" y="990000"/>
            <a:ext cx="8780000" cy="5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[CO2] KMP keyword search for "database":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B    Database Design        match at index [0]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C    Database Setup         match at index [0]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[CO2] Suffix array + LCP - similar task names: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B (Database Design)  ~  C (Database Setup)   shared: "database " (9 chars)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-&gt; Please check that these are not duplicate tasks.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[CO1/CO3] Single worker plan: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Problem: ONE worker does all tasks, respecting dependencies.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Goal   : minimise the sum of task completion times (tasks finish as early as possible).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Strategy selected: exact BITMASK DP  (n = 5 &lt;= 20, O(2^n * n))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Best order            : A -&gt; C -&gt; B -&gt; D -&gt; 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Sum of finish times   : 37   (average 7.40 days)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Total time (1 worker) : 13 days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Valid execution orders: 2  (all topological orders, counted by DP on subsets)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[CO3] Two-team split: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Team 1: A D   (6 days of work)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Team 2: B C E   (7 days of work)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Most balanced split: busiest team has 7 days of work.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(Balances workload only; dependencies may still force waiting between teams.)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: Rounded Corners 2"/>
          <p:cNvSpPr/>
          <p:nvPr/>
        </p:nvSpPr>
        <p:spPr>
          <a:xfrm>
            <a:off x="1746000" y="221673"/>
            <a:ext cx="87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746000" y="221673"/>
            <a:ext cx="87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Results: Flow, Approximation, Randomised and Parallel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0000" y="950000"/>
            <a:ext cx="8900000" cy="5450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60000" y="990000"/>
            <a:ext cx="8780000" cy="5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[CO4] Worker assignment by max-flow: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Network: source -&gt; worker (capacity = max tasks) -&gt; task (1 if skilled) -&gt; sink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Max flow = 4 of 5 tasks assigned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Asha (cap 2): A, B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Ravi (cap 1): 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Meera (cap 1): 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Unassigned tasks: C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Min cut capacity = 4  (max-flow = min-cut: verified)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[CO5] Two workers, approximation: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Problem: schedule tasks on 2 identical workers, minimise finish time (makespan).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Class  : NP-hard (2 workers, no dependencies = PARTITION), so exact answers are too costly.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Method : Graham list scheduling (longest ready task first), a polynomial (2 - 1/2)-approximation.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Worker 1: A   day 0 -&gt; 2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Worker 1: B   day 2 -&gt; 5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Worker 2: C   day 2 -&gt; 4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Worker 1: D   day 5 -&gt; 9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Worker 1: E   day 9 -&gt; 11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Makespan with 2 workers : 11 days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Lower bound on optimum      : 11 days = max(critical path 11, ceil(work 13 / 2))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Ratio to lower bound        : 1.00 (guarantee &lt;= 1.50)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[CO6] Randomised and parallel: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[Las Vegas] randomised quick-select, expected O(n):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Median task duration = 2 days (always correct)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[Monte Carlo] 10000 runs, each duration grows by 0% to 50% at random (seed 42):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Expected project time = 13.75 days (plain CPM: 11)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P(finish within 13 days) = 19.4%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Criticality index: A 100%  B 100%  C 0%  D 100%  E 100%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[Parallel reduce + prefix sum] on task durations in topological order: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Prefix sums (one-worker finish times): [2, 5, 7, 11, 13]  [matches Arrays.parallelPrefix]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Total work = 13 days | reduce: 4 additions, span 3 rounds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</a:rPr>
              <a:t>    Work-span: work = O(n), span = O(log n), parallelism ~ n/log n = 1.7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